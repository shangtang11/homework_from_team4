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Merriweather" panose="00000500000000000000" pitchFamily="2" charset="0"/>
      <p:regular r:id="rId18"/>
      <p:bold r:id="rId19"/>
      <p:italic r:id="rId20"/>
      <p:boldItalic r:id="rId21"/>
    </p:embeddedFont>
    <p:embeddedFont>
      <p:font typeface="等线" panose="02010600030101010101" pitchFamily="2" charset="-122"/>
      <p:regular r:id="rId22"/>
      <p:bold r:id="rId23"/>
    </p:embeddedFont>
    <p:embeddedFont>
      <p:font typeface="微软雅黑" panose="020B0503020204020204" pitchFamily="34" charset="-122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4EEAC4-8526-4611-BD1A-2213015D0AFE}">
  <a:tblStyle styleId="{CE4EEAC4-8526-4611-BD1A-2213015D0A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65521" y="2213669"/>
            <a:ext cx="766095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RISC-V </a:t>
            </a:r>
            <a:r>
              <a:rPr lang="en-US" sz="54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处理器架构领域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文献计量分析报告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50" y="4198441"/>
            <a:ext cx="952500" cy="3810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457700" y="4788991"/>
            <a:ext cx="32766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HNU </a:t>
            </a:r>
            <a:r>
              <a:rPr lang="en-US" sz="21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文献计量学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581525" y="5672881"/>
            <a:ext cx="3028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第</a:t>
            </a:r>
            <a:r>
              <a:rPr lang="zh-CN" altLang="en-US" sz="1500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四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小组成员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| 2026.6.11</a:t>
            </a:r>
            <a:endParaRPr dirty="0"/>
          </a:p>
        </p:txBody>
      </p:sp>
      <p:pic>
        <p:nvPicPr>
          <p:cNvPr id="2" name="图片 1" descr="RISC-V开源指令集架构简介与应用前景分析 | ScenSmart一站式智能制造平台|OEM|ODM|行业方案">
            <a:extLst>
              <a:ext uri="{FF2B5EF4-FFF2-40B4-BE49-F238E27FC236}">
                <a16:creationId xmlns:a16="http://schemas.microsoft.com/office/drawing/2014/main" id="{8CF372B9-3BA5-91F3-953A-BE657E377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550" y="622994"/>
            <a:ext cx="9017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2050" y="1997076"/>
            <a:ext cx="5334000" cy="373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64661" y="2404586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</a:t>
            </a:r>
            <a:endParaRPr sz="24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464661" y="3059668"/>
            <a:ext cx="56007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RISC-V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作为开源指令集架构，在后摩尔时代引发了处理器技术的创新变革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随着生态成熟，学术成果呈爆发式增长，亟需定量分析梳理脉络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20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595428" y="2773918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四个核心综述问题</a:t>
            </a:r>
            <a:r>
              <a:rPr lang="en-US" sz="2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(RQ)</a:t>
            </a:r>
            <a:endParaRPr sz="2000" dirty="0"/>
          </a:p>
        </p:txBody>
      </p:sp>
      <p:sp>
        <p:nvSpPr>
          <p:cNvPr id="99" name="Google Shape;99;p14"/>
          <p:cNvSpPr txBox="1"/>
          <p:nvPr/>
        </p:nvSpPr>
        <p:spPr>
          <a:xfrm rot="5400000">
            <a:off x="6704587" y="3261576"/>
            <a:ext cx="864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85928" y="3173968"/>
            <a:ext cx="4552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 1: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整体发展态势与发文趋势如何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？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 rot="5400000">
            <a:off x="6704587" y="3740979"/>
            <a:ext cx="864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85928" y="3653371"/>
            <a:ext cx="4552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 2: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知识基础由哪些核心文献构成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？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 rot="5400000">
            <a:off x="6704587" y="4195499"/>
            <a:ext cx="864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85928" y="4107891"/>
            <a:ext cx="4552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 3: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全球合作格局与核心学者分布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？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 rot="5400000">
            <a:off x="6704587" y="4605013"/>
            <a:ext cx="864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85928" y="4517405"/>
            <a:ext cx="4552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 4: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研究主题如何随时间演进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？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研究背景与目标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84450"/>
            <a:ext cx="5334000" cy="3181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581775" y="2890123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PRISMA </a:t>
            </a:r>
            <a:r>
              <a:rPr lang="en-US" sz="2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筛选流程</a:t>
            </a:r>
            <a:endParaRPr sz="240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581775" y="3404235"/>
            <a:ext cx="4743450" cy="207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 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初检记录：10000+ 篇</a:t>
            </a:r>
          </a:p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文献去重与筛选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DM Sans"/>
                <a:ea typeface="Calibri"/>
                <a:cs typeface="Calibri"/>
                <a:sym typeface="DM Sans"/>
              </a:rPr>
              <a:t>3.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限定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Article 与 Review</a:t>
            </a:r>
          </a:p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4.最终纳入：核心分析集</a:t>
            </a:r>
            <a:endParaRPr sz="18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570725"/>
            <a:ext cx="533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数据源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Web of Science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核心合集</a:t>
            </a:r>
            <a:endParaRPr sz="20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552450" y="3108493"/>
            <a:ext cx="533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时间跨度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201</a:t>
            </a:r>
            <a:r>
              <a:rPr lang="en-US" sz="20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至 2026</a:t>
            </a:r>
            <a:endParaRPr sz="20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552450" y="3717227"/>
            <a:ext cx="47879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分析工具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CiteSpace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5.7,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VOSviewer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1.6.19</a:t>
            </a:r>
            <a:endParaRPr sz="2000"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7517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328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000" y="390627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数据来源与方法 (Methods)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502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175151"/>
            <a:ext cx="5248275" cy="36697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343650" y="1519237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核心发现：四大知识板块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590550" y="6138767"/>
            <a:ext cx="5334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*</a:t>
            </a:r>
            <a:r>
              <a:rPr lang="zh-CN" altLang="en-US" sz="1200" b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四大板块相互关联，共同支撑了</a:t>
            </a:r>
            <a:r>
              <a:rPr lang="en-US" altLang="zh-CN" sz="1200" b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RISC-V</a:t>
            </a:r>
            <a:r>
              <a:rPr lang="zh-CN" altLang="en-US" sz="1200" b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处理器领域后续的技术演进与应用拓展。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6362700" y="1990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429375" y="1990725"/>
            <a:ext cx="5143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EAB308"/>
                </a:solidFill>
                <a:latin typeface="DM Sans"/>
                <a:ea typeface="DM Sans"/>
                <a:cs typeface="DM Sans"/>
                <a:sym typeface="DM Sans"/>
              </a:rPr>
              <a:t>黄色聚类</a:t>
            </a:r>
            <a:r>
              <a:rPr lang="en-US" sz="1500" b="1" i="0" u="none" strike="noStrike" cap="none" dirty="0">
                <a:solidFill>
                  <a:srgbClr val="EAB308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以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Hills G 2019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年《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Nature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》论文为绝对核心，该节点尺寸最大、被引频次最高，奠定了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与碳基半导体、存算一体等新型计算架构融合的研究基础。</a:t>
            </a:r>
          </a:p>
        </p:txBody>
      </p:sp>
      <p:sp>
        <p:nvSpPr>
          <p:cNvPr id="138" name="Google Shape;138;p16"/>
          <p:cNvSpPr txBox="1"/>
          <p:nvPr/>
        </p:nvSpPr>
        <p:spPr>
          <a:xfrm>
            <a:off x="6343650" y="305187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6410325" y="3051870"/>
            <a:ext cx="5143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红色聚类</a:t>
            </a:r>
            <a:r>
              <a:rPr lang="en-US" sz="1500" b="1" i="0" u="none" strike="noStrike" cap="none" dirty="0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以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He KM 2016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、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Hamilton WL 2017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等论文为核心，构成了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处理器微架构优化、指令集扩展与硬件加速技术的知识体系。</a:t>
            </a:r>
          </a:p>
        </p:txBody>
      </p:sp>
      <p:sp>
        <p:nvSpPr>
          <p:cNvPr id="140" name="Google Shape;140;p16"/>
          <p:cNvSpPr txBox="1"/>
          <p:nvPr/>
        </p:nvSpPr>
        <p:spPr>
          <a:xfrm>
            <a:off x="6362700" y="41338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429375" y="4133850"/>
            <a:ext cx="5143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绿色聚类</a:t>
            </a:r>
            <a:r>
              <a:rPr lang="en-US" sz="1500" b="1" i="0" u="none" strike="noStrike" cap="none" dirty="0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以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Costan V 2016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年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USENIX Security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论文为核心，提供了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可信执行环境、安全扩展与侧信道防御的核心理论支撑。</a:t>
            </a:r>
          </a:p>
        </p:txBody>
      </p:sp>
      <p:sp>
        <p:nvSpPr>
          <p:cNvPr id="142" name="Google Shape;142;p16"/>
          <p:cNvSpPr txBox="1"/>
          <p:nvPr/>
        </p:nvSpPr>
        <p:spPr>
          <a:xfrm>
            <a:off x="6391275" y="521583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457950" y="5215830"/>
            <a:ext cx="5143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蓝色聚类</a:t>
            </a:r>
            <a:r>
              <a:rPr lang="en-US" sz="1500" b="1" i="0" u="none" strike="noStrike" cap="none" dirty="0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以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Carlini N 2015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、</a:t>
            </a:r>
            <a:r>
              <a:rPr lang="en-US" altLang="zh-CN" sz="1500" dirty="0" err="1">
                <a:solidFill>
                  <a:srgbClr val="334155"/>
                </a:solidFill>
                <a:latin typeface="DM Sans"/>
              </a:rPr>
              <a:t>Bisheh-Niasar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 M 2021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等论文为核心，对应</a:t>
            </a:r>
            <a:r>
              <a:rPr lang="en-US" altLang="zh-CN" sz="1500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sz="1500" dirty="0">
                <a:solidFill>
                  <a:srgbClr val="334155"/>
                </a:solidFill>
                <a:latin typeface="DM Sans"/>
              </a:rPr>
              <a:t>处理器的形式化验证、漏洞检测与可靠性设计方向。</a:t>
            </a:r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Fig 1. 知识基础：文献共被引网络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2105025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三个清晰阶段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09600" y="2687464"/>
            <a:ext cx="24217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2581275"/>
            <a:ext cx="5143500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基础构建期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(20 13- 15): 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对应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#0 using verification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和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#6 data-oriented attack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聚类，研究聚焦于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指令集的形式化验证、基础安全漏洞分析，为后续架构发展奠定了可靠性与安全性基础。</a:t>
            </a:r>
            <a:endParaRPr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90551" y="375158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23900" y="3657600"/>
            <a:ext cx="5143500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技术爆发期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(20 16- 19):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对应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#2 carbon nanotube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和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#3 carbon nanotube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聚类，研究热点转向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与新型半导体材料的结合，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Hills G 2019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年的碳纳米管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处理器论文成为这一阶段的标志性成果，推动了领域向异构计算方向发展。</a:t>
            </a:r>
            <a:endParaRPr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8285" y="510413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62000" y="5001668"/>
            <a:ext cx="5143500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应用拓展期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(20 20- 今):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对应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#4 multispectral </a:t>
            </a:r>
            <a:r>
              <a:rPr lang="en-US" altLang="zh-CN" dirty="0" err="1">
                <a:solidFill>
                  <a:srgbClr val="334155"/>
                </a:solidFill>
                <a:latin typeface="DM Sans"/>
              </a:rPr>
              <a:t>riemannian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 classification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聚类，研究开始向嵌入式、边缘计算等具体应用场景延伸，探索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在多模态处理、低功耗设备中的实现方案。</a:t>
            </a:r>
            <a:endParaRPr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Fig 2. 演进脉络：共被引时间线图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2703" y="1768704"/>
            <a:ext cx="5334000" cy="337656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A20DB034-6871-334D-F6E9-229609BA7A4E}"/>
              </a:ext>
            </a:extLst>
          </p:cNvPr>
          <p:cNvSpPr/>
          <p:nvPr/>
        </p:nvSpPr>
        <p:spPr>
          <a:xfrm>
            <a:off x="6362703" y="5357900"/>
            <a:ext cx="5334000" cy="94107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6477003" y="5412573"/>
            <a:ext cx="51435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zh-CN" altLang="zh-CN" sz="1200" dirty="0">
                <a:solidFill>
                  <a:srgbClr val="334155"/>
                </a:solidFill>
                <a:latin typeface="DM Sans"/>
              </a:rPr>
              <a:t>图中横轴为时间轴（</a:t>
            </a:r>
            <a:r>
              <a:rPr lang="en-US" altLang="zh-CN" sz="1200" dirty="0">
                <a:solidFill>
                  <a:srgbClr val="334155"/>
                </a:solidFill>
                <a:latin typeface="DM Sans"/>
              </a:rPr>
              <a:t>2016-2026</a:t>
            </a:r>
            <a:r>
              <a:rPr lang="zh-CN" altLang="zh-CN" sz="1200" dirty="0">
                <a:solidFill>
                  <a:srgbClr val="334155"/>
                </a:solidFill>
                <a:latin typeface="DM Sans"/>
              </a:rPr>
              <a:t>年），节点代表被引文献，大小反映被引频次，不同横向条带对应不同研究聚类，标签为</a:t>
            </a:r>
            <a:r>
              <a:rPr lang="en-US" altLang="zh-CN" sz="1200" dirty="0" err="1">
                <a:solidFill>
                  <a:srgbClr val="334155"/>
                </a:solidFill>
                <a:latin typeface="DM Sans"/>
              </a:rPr>
              <a:t>CiteSpace</a:t>
            </a:r>
            <a:r>
              <a:rPr lang="zh-CN" altLang="zh-CN" sz="1200" dirty="0">
                <a:solidFill>
                  <a:srgbClr val="334155"/>
                </a:solidFill>
                <a:latin typeface="DM Sans"/>
              </a:rPr>
              <a:t>自动生成的主题关键词。</a:t>
            </a:r>
            <a:endParaRPr sz="1200" dirty="0">
              <a:solidFill>
                <a:srgbClr val="334155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6286502" y="1567686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核心阵营：多中心化特征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410327" y="204393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477002" y="2043936"/>
            <a:ext cx="5143500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欧洲阵营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以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Benini Luca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为核心（节点尺寸最大，发文量最高），联合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Magno Michele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、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Atienza David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等学者，主导了嵌入式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与低功耗设计方向的研究。</a:t>
            </a:r>
            <a:endParaRPr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410327" y="3087923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477002" y="3087923"/>
            <a:ext cx="5143500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美国阵营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以</a:t>
            </a:r>
            <a:r>
              <a:rPr lang="en-US" altLang="zh-CN" dirty="0" err="1">
                <a:solidFill>
                  <a:srgbClr val="334155"/>
                </a:solidFill>
                <a:latin typeface="DM Sans"/>
              </a:rPr>
              <a:t>Asanovic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 Krste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（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联合创始人）为核心，包括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Wentzlaff David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、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Malik Sharad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等学者，奠定了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基础架构与开源生态的发展方向。</a:t>
            </a:r>
            <a:endParaRPr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376989" y="414519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443664" y="4145196"/>
            <a:ext cx="5143500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中国阵营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以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Wei </a:t>
            </a:r>
            <a:r>
              <a:rPr lang="en-US" altLang="zh-CN" dirty="0" err="1">
                <a:solidFill>
                  <a:srgbClr val="334155"/>
                </a:solidFill>
                <a:latin typeface="DM Sans"/>
              </a:rPr>
              <a:t>Shaojun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、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Shi Longxing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、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Li Xiaowei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、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Yang Huazhong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等学者为核心，在高性能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处理器设计、安全扩展与产业化应用方面成果显著。</a:t>
            </a:r>
            <a:endParaRPr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6376989" y="5189183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443664" y="5189183"/>
            <a:ext cx="51435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安全阵营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以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Karri Ramesh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、</a:t>
            </a:r>
            <a:r>
              <a:rPr lang="en-US" altLang="zh-CN" dirty="0" err="1">
                <a:solidFill>
                  <a:srgbClr val="334155"/>
                </a:solidFill>
                <a:latin typeface="DM Sans"/>
              </a:rPr>
              <a:t>Sinanoglu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 Ozgur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为核心，专注于</a:t>
            </a:r>
            <a:r>
              <a:rPr lang="en-US" altLang="zh-CN" dirty="0">
                <a:solidFill>
                  <a:srgbClr val="334155"/>
                </a:solidFill>
                <a:latin typeface="DM Sans"/>
              </a:rPr>
              <a:t>RISC-V</a:t>
            </a:r>
            <a:r>
              <a:rPr lang="zh-CN" altLang="zh-CN" dirty="0">
                <a:solidFill>
                  <a:srgbClr val="334155"/>
                </a:solidFill>
                <a:latin typeface="DM Sans"/>
              </a:rPr>
              <a:t>硬件安全、侧信道攻击与防御技术的研究。</a:t>
            </a:r>
            <a:endParaRPr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Fig 3. 合作格局：作者合作网络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32;p16" descr="image.png">
            <a:extLst>
              <a:ext uri="{FF2B5EF4-FFF2-40B4-BE49-F238E27FC236}">
                <a16:creationId xmlns:a16="http://schemas.microsoft.com/office/drawing/2014/main" id="{1491E2C8-9D2A-15CD-CE8C-462CF25F8C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88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35;p16">
            <a:extLst>
              <a:ext uri="{FF2B5EF4-FFF2-40B4-BE49-F238E27FC236}">
                <a16:creationId xmlns:a16="http://schemas.microsoft.com/office/drawing/2014/main" id="{D8C817C7-9EC4-7AAE-9BB2-496082511B60}"/>
              </a:ext>
            </a:extLst>
          </p:cNvPr>
          <p:cNvSpPr txBox="1"/>
          <p:nvPr/>
        </p:nvSpPr>
        <p:spPr>
          <a:xfrm>
            <a:off x="590550" y="6138767"/>
            <a:ext cx="5334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*</a:t>
            </a:r>
            <a:r>
              <a:rPr lang="zh-CN" altLang="en-US" sz="1200" b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各阵营内部合作紧密，但跨阵营的国际合作相对较少。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328E48-E19C-DC70-0EBF-7801F5E2D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38" y="2509196"/>
            <a:ext cx="4700423" cy="32433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6185445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注：Sigma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值综合反映了文献的“桥梁作用”和“爆发影响力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”。</a:t>
            </a:r>
            <a:endParaRPr dirty="0"/>
          </a:p>
        </p:txBody>
      </p:sp>
      <p:sp>
        <p:nvSpPr>
          <p:cNvPr id="189" name="Google Shape;189;p19"/>
          <p:cNvSpPr/>
          <p:nvPr/>
        </p:nvSpPr>
        <p:spPr>
          <a:xfrm>
            <a:off x="571500" y="3331815"/>
            <a:ext cx="231159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883098" y="3331815"/>
            <a:ext cx="8358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718917" y="3331815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815929" y="3331815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912941" y="3331815"/>
            <a:ext cx="570755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71500" y="3836640"/>
            <a:ext cx="231159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883098" y="3836640"/>
            <a:ext cx="8358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718917" y="3836640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815929" y="3836640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912941" y="3836640"/>
            <a:ext cx="570755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71500" y="4341465"/>
            <a:ext cx="231159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883098" y="4341465"/>
            <a:ext cx="8358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718917" y="4341465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815929" y="4341465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912941" y="4341465"/>
            <a:ext cx="570755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1500" y="4846290"/>
            <a:ext cx="231159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883098" y="4846290"/>
            <a:ext cx="8358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3718917" y="4846290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815929" y="4846290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912941" y="4846290"/>
            <a:ext cx="570755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71500" y="5351115"/>
            <a:ext cx="231159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2883098" y="5351115"/>
            <a:ext cx="8358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3718917" y="5351115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815929" y="5351115"/>
            <a:ext cx="109701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912941" y="5351115"/>
            <a:ext cx="570755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Table 1. RISC-V 领域里程碑文献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774B7BF-05EC-CBF7-2BBC-AA8A854C0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949205"/>
              </p:ext>
            </p:extLst>
          </p:nvPr>
        </p:nvGraphicFramePr>
        <p:xfrm>
          <a:off x="571500" y="1497360"/>
          <a:ext cx="11150600" cy="4677776"/>
        </p:xfrm>
        <a:graphic>
          <a:graphicData uri="http://schemas.openxmlformats.org/drawingml/2006/table">
            <a:tbl>
              <a:tblPr firstRow="1" firstCol="1" bandRow="1">
                <a:tableStyleId>{CE4EEAC4-8526-4611-BD1A-2213015D0AFE}</a:tableStyleId>
              </a:tblPr>
              <a:tblGrid>
                <a:gridCol w="1669634">
                  <a:extLst>
                    <a:ext uri="{9D8B030D-6E8A-4147-A177-3AD203B41FA5}">
                      <a16:colId xmlns:a16="http://schemas.microsoft.com/office/drawing/2014/main" val="2222195193"/>
                    </a:ext>
                  </a:extLst>
                </a:gridCol>
                <a:gridCol w="986705">
                  <a:extLst>
                    <a:ext uri="{9D8B030D-6E8A-4147-A177-3AD203B41FA5}">
                      <a16:colId xmlns:a16="http://schemas.microsoft.com/office/drawing/2014/main" val="1915753299"/>
                    </a:ext>
                  </a:extLst>
                </a:gridCol>
                <a:gridCol w="1002940">
                  <a:extLst>
                    <a:ext uri="{9D8B030D-6E8A-4147-A177-3AD203B41FA5}">
                      <a16:colId xmlns:a16="http://schemas.microsoft.com/office/drawing/2014/main" val="4005056790"/>
                    </a:ext>
                  </a:extLst>
                </a:gridCol>
                <a:gridCol w="1098015">
                  <a:extLst>
                    <a:ext uri="{9D8B030D-6E8A-4147-A177-3AD203B41FA5}">
                      <a16:colId xmlns:a16="http://schemas.microsoft.com/office/drawing/2014/main" val="316044901"/>
                    </a:ext>
                  </a:extLst>
                </a:gridCol>
                <a:gridCol w="6393306">
                  <a:extLst>
                    <a:ext uri="{9D8B030D-6E8A-4147-A177-3AD203B41FA5}">
                      <a16:colId xmlns:a16="http://schemas.microsoft.com/office/drawing/2014/main" val="1719055475"/>
                    </a:ext>
                  </a:extLst>
                </a:gridCol>
              </a:tblGrid>
              <a:tr h="288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2000" kern="0" dirty="0">
                          <a:effectLst/>
                        </a:rPr>
                        <a:t>作者</a:t>
                      </a:r>
                      <a:r>
                        <a:rPr lang="en-US" sz="2000" kern="0" dirty="0">
                          <a:effectLst/>
                        </a:rPr>
                        <a:t> (</a:t>
                      </a:r>
                      <a:r>
                        <a:rPr lang="zh-CN" sz="2000" kern="0" dirty="0">
                          <a:effectLst/>
                        </a:rPr>
                        <a:t>年份</a:t>
                      </a:r>
                      <a:r>
                        <a:rPr lang="en-US" sz="2000" kern="0" dirty="0">
                          <a:effectLst/>
                        </a:rPr>
                        <a:t>)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2000" kern="0">
                          <a:effectLst/>
                        </a:rPr>
                        <a:t>频次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2000" kern="0">
                          <a:effectLst/>
                        </a:rPr>
                        <a:t>中心性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Sigma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2000" kern="0" dirty="0">
                          <a:effectLst/>
                        </a:rPr>
                        <a:t>核心贡献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1792188432"/>
                  </a:ext>
                </a:extLst>
              </a:tr>
              <a:tr h="288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Hills G (2019)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364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0.04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2.05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kern="0">
                          <a:effectLst/>
                        </a:rPr>
                        <a:t>实现全球首个碳纳米管</a:t>
                      </a:r>
                      <a:r>
                        <a:rPr lang="en-US" sz="1600" kern="0">
                          <a:effectLst/>
                        </a:rPr>
                        <a:t> RISC-V </a:t>
                      </a:r>
                      <a:r>
                        <a:rPr lang="zh-CN" sz="1600" kern="0">
                          <a:effectLst/>
                        </a:rPr>
                        <a:t>处理器</a:t>
                      </a:r>
                      <a:r>
                        <a:rPr lang="en-US" sz="1600" kern="0">
                          <a:effectLst/>
                        </a:rPr>
                        <a:t> (Nature)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252377691"/>
                  </a:ext>
                </a:extLst>
              </a:tr>
              <a:tr h="414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Costan V (2016)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104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0.07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9.18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kern="0">
                          <a:effectLst/>
                        </a:rPr>
                        <a:t>阐述</a:t>
                      </a:r>
                      <a:r>
                        <a:rPr lang="en-US" sz="1600" kern="0">
                          <a:effectLst/>
                        </a:rPr>
                        <a:t> TEE </a:t>
                      </a:r>
                      <a:r>
                        <a:rPr lang="zh-CN" sz="1600" kern="0">
                          <a:effectLst/>
                        </a:rPr>
                        <a:t>安全机制，</a:t>
                      </a:r>
                      <a:r>
                        <a:rPr lang="en-US" sz="1600" kern="0">
                          <a:effectLst/>
                        </a:rPr>
                        <a:t>RISC-V </a:t>
                      </a:r>
                      <a:r>
                        <a:rPr lang="zh-CN" sz="1600" kern="0">
                          <a:effectLst/>
                        </a:rPr>
                        <a:t>安全扩展核心参考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3266499752"/>
                  </a:ext>
                </a:extLst>
              </a:tr>
              <a:tr h="4355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Jouppi NP (2017)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50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0.12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7.42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TPU </a:t>
                      </a:r>
                      <a:r>
                        <a:rPr lang="zh-CN" sz="1600" kern="0">
                          <a:effectLst/>
                        </a:rPr>
                        <a:t>架构论文，推动</a:t>
                      </a:r>
                      <a:r>
                        <a:rPr lang="en-US" sz="1600" kern="0">
                          <a:effectLst/>
                        </a:rPr>
                        <a:t> RISC-V AI </a:t>
                      </a:r>
                      <a:r>
                        <a:rPr lang="zh-CN" sz="1600" kern="0">
                          <a:effectLst/>
                        </a:rPr>
                        <a:t>硬件加速融合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2498056260"/>
                  </a:ext>
                </a:extLst>
              </a:tr>
              <a:tr h="5531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Amid A (2020)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66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0.06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2.75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Rocket Chip </a:t>
                      </a:r>
                      <a:r>
                        <a:rPr lang="zh-CN" sz="1600" kern="0">
                          <a:effectLst/>
                        </a:rPr>
                        <a:t>设计，推动</a:t>
                      </a:r>
                      <a:r>
                        <a:rPr lang="en-US" sz="1600" kern="0">
                          <a:effectLst/>
                        </a:rPr>
                        <a:t> RISC-V </a:t>
                      </a:r>
                      <a:r>
                        <a:rPr lang="zh-CN" sz="1600" kern="0">
                          <a:effectLst/>
                        </a:rPr>
                        <a:t>产业化应用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1895955175"/>
                  </a:ext>
                </a:extLst>
              </a:tr>
              <a:tr h="4181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 err="1">
                          <a:effectLst/>
                        </a:rPr>
                        <a:t>Paszke</a:t>
                      </a:r>
                      <a:r>
                        <a:rPr lang="en-US" sz="1600" kern="0" dirty="0">
                          <a:effectLst/>
                        </a:rPr>
                        <a:t> A (2019)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67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0.05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3.45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PyTorch </a:t>
                      </a:r>
                      <a:r>
                        <a:rPr lang="zh-CN" sz="1600" kern="0">
                          <a:effectLst/>
                        </a:rPr>
                        <a:t>框架发布，间接推动</a:t>
                      </a:r>
                      <a:r>
                        <a:rPr lang="en-US" sz="1600" kern="0">
                          <a:effectLst/>
                        </a:rPr>
                        <a:t> RISC-V </a:t>
                      </a:r>
                      <a:r>
                        <a:rPr lang="zh-CN" sz="1600" kern="0">
                          <a:effectLst/>
                        </a:rPr>
                        <a:t>生态结合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2745854589"/>
                  </a:ext>
                </a:extLst>
              </a:tr>
              <a:tr h="563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Sebastian A</a:t>
                      </a:r>
                      <a:r>
                        <a:rPr lang="zh-CN" sz="1600" kern="0" dirty="0">
                          <a:effectLst/>
                        </a:rPr>
                        <a:t>（</a:t>
                      </a:r>
                      <a:r>
                        <a:rPr lang="en-US" sz="1600" kern="0" dirty="0">
                          <a:effectLst/>
                        </a:rPr>
                        <a:t>2020</a:t>
                      </a:r>
                      <a:r>
                        <a:rPr lang="zh-CN" sz="1600" kern="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37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0.1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4.28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kern="0">
                          <a:effectLst/>
                        </a:rPr>
                        <a:t>提出相变存储器存算一体架构，为</a:t>
                      </a:r>
                      <a:r>
                        <a:rPr lang="en-US" sz="1600" kern="0">
                          <a:effectLst/>
                        </a:rPr>
                        <a:t> RISC-V </a:t>
                      </a:r>
                      <a:r>
                        <a:rPr lang="zh-CN" sz="1600" kern="0">
                          <a:effectLst/>
                        </a:rPr>
                        <a:t>异构计算提供方向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3344110436"/>
                  </a:ext>
                </a:extLst>
              </a:tr>
              <a:tr h="288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Xu YZ (2015)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29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0.09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3.26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kern="0">
                          <a:effectLst/>
                        </a:rPr>
                        <a:t>发现硬件漏洞</a:t>
                      </a:r>
                      <a:r>
                        <a:rPr lang="en-US" sz="1600" kern="0">
                          <a:effectLst/>
                        </a:rPr>
                        <a:t> "Rowhammer"</a:t>
                      </a:r>
                      <a:r>
                        <a:rPr lang="zh-CN" sz="1600" kern="0">
                          <a:effectLst/>
                        </a:rPr>
                        <a:t>，推动</a:t>
                      </a:r>
                      <a:r>
                        <a:rPr lang="en-US" sz="1600" kern="0">
                          <a:effectLst/>
                        </a:rPr>
                        <a:t> RISC-V </a:t>
                      </a:r>
                      <a:r>
                        <a:rPr lang="zh-CN" sz="1600" kern="0">
                          <a:effectLst/>
                        </a:rPr>
                        <a:t>安全设计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2683475868"/>
                  </a:ext>
                </a:extLst>
              </a:tr>
              <a:tr h="4355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 err="1">
                          <a:effectLst/>
                        </a:rPr>
                        <a:t>Krizhevsky</a:t>
                      </a:r>
                      <a:r>
                        <a:rPr lang="en-US" sz="1600" kern="0" dirty="0">
                          <a:effectLst/>
                        </a:rPr>
                        <a:t> A (2017)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33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0.09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3.03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kern="0">
                          <a:effectLst/>
                        </a:rPr>
                        <a:t>提出</a:t>
                      </a:r>
                      <a:r>
                        <a:rPr lang="en-US" sz="1600" kern="0">
                          <a:effectLst/>
                        </a:rPr>
                        <a:t> AlexNet </a:t>
                      </a:r>
                      <a:r>
                        <a:rPr lang="zh-CN" sz="1600" kern="0">
                          <a:effectLst/>
                        </a:rPr>
                        <a:t>架构，奠定深度学习硬件加速的基础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4105009290"/>
                  </a:ext>
                </a:extLst>
              </a:tr>
              <a:tr h="5531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Amid A (2020)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66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0.06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2.75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kern="0" dirty="0">
                          <a:effectLst/>
                        </a:rPr>
                        <a:t>设计高性能 </a:t>
                      </a:r>
                      <a:r>
                        <a:rPr lang="en-US" sz="1600" kern="0" dirty="0">
                          <a:effectLst/>
                        </a:rPr>
                        <a:t>RISC-V </a:t>
                      </a:r>
                      <a:r>
                        <a:rPr lang="zh-CN" sz="1600" kern="0" dirty="0">
                          <a:effectLst/>
                        </a:rPr>
                        <a:t>处理器</a:t>
                      </a:r>
                      <a:r>
                        <a:rPr lang="en-US" sz="1600" kern="0" dirty="0">
                          <a:effectLst/>
                        </a:rPr>
                        <a:t> "Rocket Chip"</a:t>
                      </a:r>
                      <a:r>
                        <a:rPr lang="zh-CN" sz="1600" kern="0" dirty="0">
                          <a:effectLst/>
                        </a:rPr>
                        <a:t>，推动产业化应用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3301158039"/>
                  </a:ext>
                </a:extLst>
              </a:tr>
              <a:tr h="288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Hu H (2016)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19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0.06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1.79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kern="0" dirty="0">
                          <a:effectLst/>
                        </a:rPr>
                        <a:t>提出侧信道攻击方法，揭示</a:t>
                      </a:r>
                      <a:r>
                        <a:rPr lang="en-US" sz="1600" kern="0" dirty="0">
                          <a:effectLst/>
                        </a:rPr>
                        <a:t> RISC-V </a:t>
                      </a:r>
                      <a:r>
                        <a:rPr lang="zh-CN" sz="1600" kern="0" dirty="0">
                          <a:effectLst/>
                        </a:rPr>
                        <a:t>处理器的安全漏洞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466" marR="38466" marT="0" marB="0" anchor="ctr"/>
                </a:tc>
                <a:extLst>
                  <a:ext uri="{0D108BD9-81ED-4DB2-BD59-A6C34878D82A}">
                    <a16:rowId xmlns:a16="http://schemas.microsoft.com/office/drawing/2014/main" val="30068544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6537"/>
            <a:ext cx="349240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76537"/>
            <a:ext cx="3492549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776537"/>
            <a:ext cx="34924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866775" y="3709987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硬件安全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66775" y="4148137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安全始终是核心痛点，侧信道、TEE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是持续的热点方向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dirty="0"/>
          </a:p>
        </p:txBody>
      </p:sp>
      <p:sp>
        <p:nvSpPr>
          <p:cNvPr id="226" name="Google Shape;226;p20"/>
          <p:cNvSpPr txBox="1"/>
          <p:nvPr/>
        </p:nvSpPr>
        <p:spPr>
          <a:xfrm>
            <a:off x="4644925" y="3709987"/>
            <a:ext cx="304709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存算一体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4644925" y="414813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碳基半导体与存算融合是突破冯·诺依曼瓶颈的关键路径。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8423225" y="3709987"/>
            <a:ext cx="304694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应用转移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423225" y="4148137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研究重心正从“基础架构”向“边缘计算/AI”具体场景转移。</a:t>
            </a:r>
            <a:endParaRPr/>
          </a:p>
        </p:txBody>
      </p:sp>
      <p:pic>
        <p:nvPicPr>
          <p:cNvPr id="230" name="Google Shape;23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1194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31194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5" y="31194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结论与讨论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仓库路径</a:t>
            </a:r>
            <a:endParaRPr dirty="0"/>
          </a:p>
        </p:txBody>
      </p:sp>
      <p:sp>
        <p:nvSpPr>
          <p:cNvPr id="251" name="Google Shape;251;p21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69ADE9-6C12-5655-8C8A-7CE992267F10}"/>
              </a:ext>
            </a:extLst>
          </p:cNvPr>
          <p:cNvSpPr txBox="1"/>
          <p:nvPr/>
        </p:nvSpPr>
        <p:spPr>
          <a:xfrm>
            <a:off x="853031" y="1847211"/>
            <a:ext cx="45229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data/：原始数据 + 清洗后数据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config/：检索式、配置文件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src/：代码（数据处理）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outputs/：图表、结果、指标文件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reports/：</a:t>
            </a:r>
            <a:r>
              <a:rPr lang="zh-CN" altLang="en-US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答辩</a:t>
            </a:r>
            <a:r>
              <a:rPr lang="en-US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ppt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paper/：课程综述、论文稿件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docs/：</a:t>
            </a:r>
            <a:r>
              <a:rPr lang="en-US" altLang="zh-CN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AI</a:t>
            </a:r>
            <a:r>
              <a:rPr lang="zh-CN" altLang="en-US" sz="20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使用说明</a:t>
            </a:r>
            <a:endParaRPr lang="zh-CN" altLang="zh-CN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-88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AI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使用情况</a:t>
            </a:r>
            <a:r>
              <a:rPr lang="zh-CN" alt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说明</a:t>
            </a:r>
            <a:endParaRPr dirty="0"/>
          </a:p>
        </p:txBody>
      </p:sp>
      <p:sp>
        <p:nvSpPr>
          <p:cNvPr id="263" name="Google Shape;263;p22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3D9F1A2-B2A9-CC2D-E4AB-3538E6344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322045"/>
              </p:ext>
            </p:extLst>
          </p:nvPr>
        </p:nvGraphicFramePr>
        <p:xfrm>
          <a:off x="363994" y="1498600"/>
          <a:ext cx="5274806" cy="4965699"/>
        </p:xfrm>
        <a:graphic>
          <a:graphicData uri="http://schemas.openxmlformats.org/drawingml/2006/table">
            <a:tbl>
              <a:tblPr firstRow="1" firstCol="1" bandRow="1">
                <a:tableStyleId>{CE4EEAC4-8526-4611-BD1A-2213015D0AFE}</a:tableStyleId>
              </a:tblPr>
              <a:tblGrid>
                <a:gridCol w="394483">
                  <a:extLst>
                    <a:ext uri="{9D8B030D-6E8A-4147-A177-3AD203B41FA5}">
                      <a16:colId xmlns:a16="http://schemas.microsoft.com/office/drawing/2014/main" val="3884869299"/>
                    </a:ext>
                  </a:extLst>
                </a:gridCol>
                <a:gridCol w="958031">
                  <a:extLst>
                    <a:ext uri="{9D8B030D-6E8A-4147-A177-3AD203B41FA5}">
                      <a16:colId xmlns:a16="http://schemas.microsoft.com/office/drawing/2014/main" val="1275104373"/>
                    </a:ext>
                  </a:extLst>
                </a:gridCol>
                <a:gridCol w="1408869">
                  <a:extLst>
                    <a:ext uri="{9D8B030D-6E8A-4147-A177-3AD203B41FA5}">
                      <a16:colId xmlns:a16="http://schemas.microsoft.com/office/drawing/2014/main" val="1469334924"/>
                    </a:ext>
                  </a:extLst>
                </a:gridCol>
                <a:gridCol w="2513423">
                  <a:extLst>
                    <a:ext uri="{9D8B030D-6E8A-4147-A177-3AD203B41FA5}">
                      <a16:colId xmlns:a16="http://schemas.microsoft.com/office/drawing/2014/main" val="1370001754"/>
                    </a:ext>
                  </a:extLst>
                </a:gridCol>
              </a:tblGrid>
              <a:tr h="294889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序号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 dirty="0" err="1">
                          <a:effectLst/>
                        </a:rPr>
                        <a:t>使用位置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对应文件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AI具体使用方式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extLst>
                  <a:ext uri="{0D108BD9-81ED-4DB2-BD59-A6C34878D82A}">
                    <a16:rowId xmlns:a16="http://schemas.microsoft.com/office/drawing/2014/main" val="72218100"/>
                  </a:ext>
                </a:extLst>
              </a:tr>
              <a:tr h="852781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 err="1">
                          <a:effectLst/>
                        </a:rPr>
                        <a:t>检索式与配置文件整理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 err="1">
                          <a:effectLst/>
                        </a:rPr>
                        <a:t>README.md；config</a:t>
                      </a:r>
                      <a:r>
                        <a:rPr lang="en-US" sz="900" dirty="0">
                          <a:effectLst/>
                        </a:rPr>
                        <a:t>/</a:t>
                      </a:r>
                      <a:r>
                        <a:rPr lang="en-US" sz="900" dirty="0" err="1">
                          <a:effectLst/>
                        </a:rPr>
                        <a:t>config.config；config</a:t>
                      </a:r>
                      <a:r>
                        <a:rPr lang="en-US" sz="900" dirty="0">
                          <a:effectLst/>
                        </a:rPr>
                        <a:t>/</a:t>
                      </a:r>
                      <a:r>
                        <a:rPr lang="en-US" sz="900" dirty="0" err="1">
                          <a:effectLst/>
                        </a:rPr>
                        <a:t>新建</a:t>
                      </a:r>
                      <a:r>
                        <a:rPr lang="en-US" sz="900" dirty="0">
                          <a:effectLst/>
                        </a:rPr>
                        <a:t> 文本文档.txt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小组先确定</a:t>
                      </a:r>
                      <a:r>
                        <a:rPr lang="en-US" sz="800" dirty="0">
                          <a:effectLst/>
                        </a:rPr>
                        <a:t> Web of Science 检索式，AI用于将检索式整理为更规范的配置说明，包括研究对象术语、研究主题术语、排除术语、字段含义、布尔逻辑、版本记录和质量检查项。AI的作用是格式化和规范表达，不负责实际检索结果。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extLst>
                  <a:ext uri="{0D108BD9-81ED-4DB2-BD59-A6C34878D82A}">
                    <a16:rowId xmlns:a16="http://schemas.microsoft.com/office/drawing/2014/main" val="2249361607"/>
                  </a:ext>
                </a:extLst>
              </a:tr>
              <a:tr h="741202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README </a:t>
                      </a:r>
                      <a:r>
                        <a:rPr lang="en-US" sz="1000" dirty="0" err="1">
                          <a:effectLst/>
                        </a:rPr>
                        <a:t>与项目说明文字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README.md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AI用于辅助整理项目背景、团队分工、仓库结构、数据来源、导出字段清单和数据清洗说明，使说明文字更清晰、符合课程项目提交格式。项目主题、成员分工、检索式和数据来源由小组确认。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extLst>
                  <a:ext uri="{0D108BD9-81ED-4DB2-BD59-A6C34878D82A}">
                    <a16:rowId xmlns:a16="http://schemas.microsoft.com/office/drawing/2014/main" val="1075503605"/>
                  </a:ext>
                </a:extLst>
              </a:tr>
              <a:tr h="964359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3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Python </a:t>
                      </a:r>
                      <a:r>
                        <a:rPr lang="en-US" sz="1000" dirty="0" err="1">
                          <a:effectLst/>
                        </a:rPr>
                        <a:t>数据清洗脚本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src/clean_wos.py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AI用于辅助编写和修改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WoS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文本清洗脚本，包括读取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savedrecs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文本、按</a:t>
                      </a:r>
                      <a:r>
                        <a:rPr lang="en-US" sz="800" dirty="0">
                          <a:effectLst/>
                        </a:rPr>
                        <a:t> PT/ER </a:t>
                      </a:r>
                      <a:r>
                        <a:rPr lang="en-US" sz="800" dirty="0" err="1">
                          <a:effectLst/>
                        </a:rPr>
                        <a:t>分割文献条目、提取</a:t>
                      </a:r>
                      <a:r>
                        <a:rPr lang="en-US" sz="800" dirty="0">
                          <a:effectLst/>
                        </a:rPr>
                        <a:t> UT/TI/AU/SO/PY </a:t>
                      </a:r>
                      <a:r>
                        <a:rPr lang="en-US" sz="800" dirty="0" err="1">
                          <a:effectLst/>
                        </a:rPr>
                        <a:t>等核心字段、过滤字段缺失记录、按</a:t>
                      </a:r>
                      <a:r>
                        <a:rPr lang="en-US" sz="800" dirty="0">
                          <a:effectLst/>
                        </a:rPr>
                        <a:t> UT </a:t>
                      </a:r>
                      <a:r>
                        <a:rPr lang="en-US" sz="800" dirty="0" err="1">
                          <a:effectLst/>
                        </a:rPr>
                        <a:t>去重、将清洗结果分割为</a:t>
                      </a:r>
                      <a:r>
                        <a:rPr lang="en-US" sz="800" dirty="0">
                          <a:effectLst/>
                        </a:rPr>
                        <a:t> 5 </a:t>
                      </a:r>
                      <a:r>
                        <a:rPr lang="en-US" sz="800" dirty="0" err="1">
                          <a:effectLst/>
                        </a:rPr>
                        <a:t>个文件以及输出处理日志。脚本运行和清洗结果由小组成员检查</a:t>
                      </a:r>
                      <a:r>
                        <a:rPr lang="en-US" sz="800" dirty="0">
                          <a:effectLst/>
                        </a:rPr>
                        <a:t>。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extLst>
                  <a:ext uri="{0D108BD9-81ED-4DB2-BD59-A6C34878D82A}">
                    <a16:rowId xmlns:a16="http://schemas.microsoft.com/office/drawing/2014/main" val="1702694050"/>
                  </a:ext>
                </a:extLst>
              </a:tr>
              <a:tr h="852781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4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 err="1">
                          <a:effectLst/>
                        </a:rPr>
                        <a:t>三图一表分析文字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outputs/三图一表分析.docx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AI用于根据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VOSviewer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共被引网络图、CiteSpace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时间线图、作者合作网络图和</a:t>
                      </a:r>
                      <a:r>
                        <a:rPr lang="en-US" sz="800" dirty="0">
                          <a:effectLst/>
                        </a:rPr>
                        <a:t> Top10 表格，生成“研究问题、主要发现、局限性”等说明性文字草稿。图中节点、作者、年份、频次、聚类含义等内容由小组结合原始图表和数据表复核。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extLst>
                  <a:ext uri="{0D108BD9-81ED-4DB2-BD59-A6C34878D82A}">
                    <a16:rowId xmlns:a16="http://schemas.microsoft.com/office/drawing/2014/main" val="978841842"/>
                  </a:ext>
                </a:extLst>
              </a:tr>
              <a:tr h="741202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 err="1">
                          <a:effectLst/>
                        </a:rPr>
                        <a:t>最终文献计量报告优化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outputs/优化后RISC-V处理器架构领域文献计量分析报告（严格符合文献计量学课件规范）版本1.docx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AI用于辅助优化报告结构、摘要、引言、研究问题、图表解释、讨论与结论表达，使报告更符合文献计量学课程综述写作规范。AI主要承担语言组织和结构润色工作，不独立决定研究结论。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extLst>
                  <a:ext uri="{0D108BD9-81ED-4DB2-BD59-A6C34878D82A}">
                    <a16:rowId xmlns:a16="http://schemas.microsoft.com/office/drawing/2014/main" val="1076609516"/>
                  </a:ext>
                </a:extLst>
              </a:tr>
              <a:tr h="518485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6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 err="1">
                          <a:effectLst/>
                        </a:rPr>
                        <a:t>AI使用情况说明文档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docs/AI_usage_disclosure_RISC-V_bibliometrics.docx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AI用于根据项目文件整理本说明文档，概括本项目中AI参与的环节、使用方式和人工复核边界。文档内容提交前由小组成员确认</a:t>
                      </a:r>
                      <a:r>
                        <a:rPr lang="en-US" sz="800" dirty="0">
                          <a:effectLst/>
                        </a:rPr>
                        <a:t>。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3408" marR="53408" marT="35605" marB="35605" anchor="ctr"/>
                </a:tc>
                <a:extLst>
                  <a:ext uri="{0D108BD9-81ED-4DB2-BD59-A6C34878D82A}">
                    <a16:rowId xmlns:a16="http://schemas.microsoft.com/office/drawing/2014/main" val="98981664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74409C6-3166-9C36-7879-9ED9CACA9FEE}"/>
              </a:ext>
            </a:extLst>
          </p:cNvPr>
          <p:cNvSpPr txBox="1"/>
          <p:nvPr/>
        </p:nvSpPr>
        <p:spPr>
          <a:xfrm>
            <a:off x="5734050" y="1669109"/>
            <a:ext cx="6159500" cy="4329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altLang="zh-CN" sz="2400" b="1" kern="0" dirty="0" err="1">
                <a:solidFill>
                  <a:srgbClr val="2E74B5"/>
                </a:solidFill>
                <a:effectLst/>
                <a:latin typeface="微软雅黑" panose="020B0503020204020204" pitchFamily="34" charset="-122"/>
                <a:ea typeface="MS Gothic" panose="020B0609070205080204" pitchFamily="49" charset="-128"/>
                <a:cs typeface="Times New Roman" panose="02020603050405020304" pitchFamily="18" charset="0"/>
              </a:rPr>
              <a:t>未使用</a:t>
            </a:r>
            <a:r>
              <a:rPr lang="en-US" altLang="zh-CN" sz="2400" b="1" kern="0" dirty="0" err="1">
                <a:solidFill>
                  <a:srgbClr val="2E74B5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en-US" altLang="zh-CN" sz="2400" b="1" kern="0" dirty="0" err="1">
                <a:solidFill>
                  <a:srgbClr val="2E74B5"/>
                </a:solidFill>
                <a:effectLst/>
                <a:latin typeface="微软雅黑" panose="020B0503020204020204" pitchFamily="34" charset="-122"/>
                <a:ea typeface="MS Gothic" panose="020B0609070205080204" pitchFamily="49" charset="-128"/>
                <a:cs typeface="Times New Roman" panose="02020603050405020304" pitchFamily="18" charset="0"/>
              </a:rPr>
              <a:t>替代的核心工作</a:t>
            </a:r>
            <a:endParaRPr lang="zh-CN" altLang="zh-CN" sz="2400" b="1" kern="0" dirty="0">
              <a:solidFill>
                <a:srgbClr val="2E74B5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原始文献数据来自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 Web of Science </a:t>
            </a: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核心合集，由小组成员按照检索式进行检索和导出，AI未生成原始文献记录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。</a:t>
            </a:r>
          </a:p>
          <a:p>
            <a:pPr marL="342900" lvl="0" indent="-342900">
              <a:lnSpc>
                <a:spcPct val="12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zh-CN" altLang="zh-CN" sz="1600" dirty="0">
              <a:solidFill>
                <a:srgbClr val="334155"/>
              </a:solidFill>
              <a:latin typeface="DM Sans"/>
            </a:endParaRPr>
          </a:p>
          <a:p>
            <a:pPr marL="342900" lvl="0" indent="-342900">
              <a:lnSpc>
                <a:spcPct val="12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CiteSpace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 和 </a:t>
            </a: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VOSviewer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的网络构建、共被引分析、时间线图、作者合作网络图等计量计算与图谱绘制由专业软件完成，AI未替代软件计算过程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。</a:t>
            </a:r>
          </a:p>
          <a:p>
            <a:pPr marL="342900" lvl="0" indent="-342900">
              <a:lnSpc>
                <a:spcPct val="12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zh-CN" altLang="zh-CN" sz="1600" dirty="0">
              <a:solidFill>
                <a:srgbClr val="334155"/>
              </a:solidFill>
              <a:latin typeface="DM Sans"/>
            </a:endParaRPr>
          </a:p>
          <a:p>
            <a:pPr marL="342900" lvl="0" indent="-342900">
              <a:lnSpc>
                <a:spcPct val="12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Excel </a:t>
            </a: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表格、TSV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数据、GraphML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网络文件等结果文件来自项目数据处理和可视化工具输出，AI未直接生成核心计量指标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。</a:t>
            </a:r>
          </a:p>
          <a:p>
            <a:pPr marL="342900" lvl="0" indent="-342900">
              <a:lnSpc>
                <a:spcPct val="12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zh-CN" altLang="zh-CN" sz="1600" dirty="0">
              <a:solidFill>
                <a:srgbClr val="334155"/>
              </a:solidFill>
              <a:latin typeface="DM Sans"/>
            </a:endParaRPr>
          </a:p>
          <a:p>
            <a:pPr marL="342900" lvl="0" indent="-342900">
              <a:lnSpc>
                <a:spcPct val="125000"/>
              </a:lnSpc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CN" sz="1600" dirty="0" err="1">
                <a:solidFill>
                  <a:srgbClr val="334155"/>
                </a:solidFill>
                <a:latin typeface="DM Sans"/>
              </a:rPr>
              <a:t>报告中的核心结论、图表采用、研究阶段划分和最终提交内容由小组成员人工检查后确定</a:t>
            </a:r>
            <a:r>
              <a:rPr lang="en-US" altLang="zh-CN" sz="1600" dirty="0">
                <a:solidFill>
                  <a:srgbClr val="334155"/>
                </a:solidFill>
                <a:latin typeface="DM Sans"/>
              </a:rPr>
              <a:t>。</a:t>
            </a:r>
            <a:endParaRPr lang="zh-CN" altLang="zh-CN" sz="1600" dirty="0">
              <a:solidFill>
                <a:srgbClr val="334155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4655820" y="1870769"/>
            <a:ext cx="288036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感谢聆听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619750" y="3101280"/>
            <a:ext cx="952500" cy="3810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5048250" y="361563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欢迎各位老师与同学提问</a:t>
            </a:r>
            <a:endParaRPr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3571875" y="449193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GitHub: github.com/shangtang11/homework_from_team4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1206</Words>
  <Application>Microsoft Office PowerPoint</Application>
  <PresentationFormat>宽屏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Times New Roman</vt:lpstr>
      <vt:lpstr>微软雅黑</vt:lpstr>
      <vt:lpstr>等线</vt:lpstr>
      <vt:lpstr>DM Sans</vt:lpstr>
      <vt:lpstr>Symbol</vt:lpstr>
      <vt:lpstr>Arial</vt:lpstr>
      <vt:lpstr>Merriweather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胡锦棠</dc:creator>
  <cp:lastModifiedBy>锦棠 胡</cp:lastModifiedBy>
  <cp:revision>7</cp:revision>
  <dcterms:modified xsi:type="dcterms:W3CDTF">2026-06-10T13:10:01Z</dcterms:modified>
</cp:coreProperties>
</file>